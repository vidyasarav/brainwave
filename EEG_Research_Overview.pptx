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3FBAD8"/>
          </a:solidFill>
          <a:ln w="12700">
            <a:solidFill>
              <a:srgbClr val="3FBA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Sleep EEG Research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7830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Dataset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1097280" y="2743200"/>
            <a:ext cx="2011680" cy="77724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9728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566160" y="2743200"/>
            <a:ext cx="2011680" cy="77724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Dup15q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56616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subjects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35040" y="2743200"/>
            <a:ext cx="2011680" cy="7772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35040" y="278892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035040" y="31729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462272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UCLA Collaboration  •  Nihon Kohden EEG System  •  EEGLAB/MATLAB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Design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subject groups compared via overnight sleep EEG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2860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280160"/>
            <a:ext cx="2743200" cy="59436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965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276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Typically-developing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587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3912633, 4068015,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898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4137123, 4329285,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" y="32095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4757853, 5141475,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5360954, 5409426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" y="4297680"/>
            <a:ext cx="23774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NKT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0" y="1280160"/>
            <a:ext cx="2743200" cy="59436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9184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Dup15q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337560" y="1965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subjects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37560" y="2276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Dup15q syndrome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37560" y="2587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IDs: 4546621, 4574335,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337560" y="2898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4646135, 4672497,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37560" y="32095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4745551, 4939552,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3756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4959323, 4969700,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337560" y="383133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4981316, 5158834, 5426282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NKT data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72200" y="1280160"/>
            <a:ext cx="27432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72200" y="1280160"/>
            <a:ext cx="2743200" cy="5943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28016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09360" y="196596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subjects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309360" y="2276856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syndrome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09360" y="2587752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EA1720U (2-night merge)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309360" y="2898648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030, 034, 036,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309360" y="32095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038, 041, 043, 044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309360" y="352044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(7-hr clean recordings)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55080" y="4297680"/>
            <a:ext cx="2377440" cy="274320"/>
          </a:xfrm>
          <a:prstGeom prst="rect">
            <a:avLst/>
          </a:prstGeom>
          <a:solidFill>
            <a:srgbClr val="D1FAE5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2976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✓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Processing Pipeline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MATLAB / EEGLAB — 3-stage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737360" cy="822960"/>
          </a:xfrm>
          <a:prstGeom prst="rect">
            <a:avLst/>
          </a:prstGeom>
          <a:solidFill>
            <a:srgbClr val="D6EEF5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325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EDF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69164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Nihon Kohden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1737360"/>
            <a:ext cx="320040" cy="0"/>
          </a:xfrm>
          <a:prstGeom prst="line">
            <a:avLst/>
          </a:prstGeom>
          <a:noFill/>
          <a:ln w="254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1591056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1188720"/>
            <a:ext cx="17830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14600" y="1188720"/>
            <a:ext cx="1783080" cy="54864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87752" y="11887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 |  Import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06040" y="1828800"/>
            <a:ext cx="1600200" cy="274320"/>
          </a:xfrm>
          <a:prstGeom prst="rect">
            <a:avLst/>
          </a:prstGeom>
          <a:solidFill>
            <a:srgbClr val="F2F8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config_import.mat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24328" y="219456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EDF → EEGLAB .set/.fdt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24328" y="260604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Standardise channel labels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24328" y="30175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*_import.set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029968"/>
            <a:ext cx="91440" cy="0"/>
          </a:xfrm>
          <a:prstGeom prst="line">
            <a:avLst/>
          </a:prstGeom>
          <a:noFill/>
          <a:ln w="25400">
            <a:solidFill>
              <a:srgbClr val="0D7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43400" y="18928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7C99"/>
                </a:solidFill>
              </a:rPr>
              <a:t>▶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434840" y="1188720"/>
            <a:ext cx="17830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3D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434840" y="1188720"/>
            <a:ext cx="1783080" cy="54864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07992" y="11887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 |  Preprocessing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828800"/>
            <a:ext cx="1600200" cy="274320"/>
          </a:xfrm>
          <a:prstGeom prst="rect">
            <a:avLst/>
          </a:prstGeom>
          <a:solidFill>
            <a:srgbClr val="F2F8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2628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config_prep.mat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4568" y="219456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Assign channel locations (10-20)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44568" y="260604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Artifact rejection &amp; cleaning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44568" y="30175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ICA decomposition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44568" y="34290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ICLabel classification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44568" y="384048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*_prep.set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17920" y="2029968"/>
            <a:ext cx="91440" cy="0"/>
          </a:xfrm>
          <a:prstGeom prst="line">
            <a:avLst/>
          </a:prstGeom>
          <a:noFill/>
          <a:ln w="25400">
            <a:solidFill>
              <a:srgbClr val="0A3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18928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A3D52"/>
                </a:solidFill>
              </a:rPr>
              <a:t>▶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55080" y="1188720"/>
            <a:ext cx="178308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355080" y="1188720"/>
            <a:ext cx="1783080" cy="5486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1188720"/>
            <a:ext cx="1636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 |  Spectral Analysis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46520" y="1828800"/>
            <a:ext cx="1600200" cy="274320"/>
          </a:xfrm>
          <a:prstGeom prst="rect">
            <a:avLst/>
          </a:prstGeom>
          <a:solidFill>
            <a:srgbClr val="F2F8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46520" y="18288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⚙ CONFIG.mat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464808" y="219456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Epoch-based power spectra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64808" y="260604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5 frequency bands computed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64808" y="301752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Topomaps + TF spectrograms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64808" y="3429000"/>
            <a:ext cx="15636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Output: Report directory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83880" y="1325880"/>
            <a:ext cx="914400" cy="2606040"/>
          </a:xfrm>
          <a:prstGeom prst="rect">
            <a:avLst/>
          </a:prstGeom>
          <a:solidFill>
            <a:srgbClr val="D1FAE5"/>
          </a:solidFill>
          <a:ln w="12700">
            <a:solidFill>
              <a:srgbClr val="1E8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183880" y="14173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83880" y="2148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.xlsx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818388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topo-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183880" y="3337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plots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138160" y="2029968"/>
            <a:ext cx="45720" cy="0"/>
          </a:xfrm>
          <a:prstGeom prst="line">
            <a:avLst/>
          </a:prstGeom>
          <a:noFill/>
          <a:ln w="25400">
            <a:solidFill>
              <a:srgbClr val="1E8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101584" y="189280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8A5E"/>
                </a:solidFill>
              </a:rPr>
              <a:t>▶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Channels &amp; Frequency Bands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10-20 Channel Montage (22 EEG)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114800" cy="347472"/>
          </a:xfrm>
          <a:prstGeom prst="rect">
            <a:avLst/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5448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1554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Fp1, Fp2, Fpz, F3, F4, F7, F8, Fz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901952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90195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90195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C3, C4, Cz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49424"/>
            <a:ext cx="4114800" cy="347472"/>
          </a:xfrm>
          <a:prstGeom prst="rect">
            <a:avLst/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24942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24942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T1, T2, T3, T4, T5, T6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2596896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9689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Parietal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259689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P3, P4, Pz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2944368"/>
            <a:ext cx="4114800" cy="347472"/>
          </a:xfrm>
          <a:prstGeom prst="rect">
            <a:avLst/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944368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Occipital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71600" y="2944368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O1, O2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291840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91840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32918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A1, A2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639312"/>
            <a:ext cx="4114800" cy="347472"/>
          </a:xfrm>
          <a:prstGeom prst="rect">
            <a:avLst/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63931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63931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ECGL, ECGR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" y="3986784"/>
            <a:ext cx="411480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986784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71600" y="3986784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EMG1, EMG2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334256"/>
            <a:ext cx="4114800" cy="347472"/>
          </a:xfrm>
          <a:prstGeom prst="rect">
            <a:avLst/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4334256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EOG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4334256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LOC, ROC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1005840"/>
            <a:ext cx="4206240" cy="3794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663440" y="1005840"/>
            <a:ext cx="4206240" cy="4572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0058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Bands Analyzed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160020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532120" y="1600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 – 4 Hz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754880" y="1920240"/>
            <a:ext cx="3566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0" y="1920240"/>
            <a:ext cx="3566160" cy="164592"/>
          </a:xfrm>
          <a:prstGeom prst="rect">
            <a:avLst/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2084832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 in deep sleep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754880" y="221284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Theta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532120" y="221284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– 8 Hz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2532888"/>
            <a:ext cx="3566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754880" y="2532888"/>
            <a:ext cx="2496312" cy="164592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54880" y="2697480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sleep / drowsiness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754880" y="2825496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5532120" y="2825496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– 13 Hz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754880" y="3145536"/>
            <a:ext cx="3566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54880" y="3145536"/>
            <a:ext cx="1783080" cy="164592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54880" y="3310128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wakefulness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754880" y="34381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532120" y="3438144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– 30 Hz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754880" y="3758184"/>
            <a:ext cx="3566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754880" y="3758184"/>
            <a:ext cx="1248156" cy="16459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3922776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cognition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54880" y="4050792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532120" y="405079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– 50 Hz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4754880" y="4370832"/>
            <a:ext cx="3566160" cy="16459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0" y="4370832"/>
            <a:ext cx="713232" cy="1645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54880" y="4535424"/>
            <a:ext cx="3566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High-frequency processing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01168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Outputs per Subject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processed recording produces a Report directory with the following files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09728" cy="11430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07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ICLabel.png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ICA Component Classification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828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of scalp topoplots — one per ICA component — labeled Brain / Eye / Other with confidence %. Used to reject non-brain artifacts.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249631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96312"/>
            <a:ext cx="109728" cy="114300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2569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power_{band}.png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Power Topomaps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" y="30906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Scalp heatmaps showing absolute spectral power (μV²) for each of 5 bands. Color: blue (low) → red (high). One file per band.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3758184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758184"/>
            <a:ext cx="109728" cy="114300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8313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rpower_{band}.png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5488" y="4105656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Power Topomaps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" y="4352544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0–1 topomaps showing what fraction of total power each band contributes. Delta typically dominates (0.4–0.9) in sleep.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1234440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1234440"/>
            <a:ext cx="109728" cy="114300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3075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A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tfplot_{channel}.png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Time-Frequency Spectrograms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956048" y="1828800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 plots: time (sec) on x-axis, frequency (Hz, up to 50) on y-axis. Color = log power. Shows sleep stage shifts over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496312"/>
            <a:ext cx="42062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754880" y="2496312"/>
            <a:ext cx="109728" cy="1143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56946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Result_*.xlsx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956048" y="2843784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Values Spreadsheet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090672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table of computed spectral power across all bands and channels. Primary quantitative output for statistical comparison between groups.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3D5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34840"/>
            <a:ext cx="9144000" cy="70866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28600"/>
            <a:ext cx="8321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Current Dataset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4023360" cy="3108960"/>
          </a:xfrm>
          <a:prstGeom prst="rect">
            <a:avLst/>
          </a:prstGeom>
          <a:solidFill>
            <a:srgbClr val="0D3B2E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97280"/>
            <a:ext cx="4023360" cy="50292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Rett  —  PROCESSED 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EA1720U (2-night merged)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0208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030 — 7hr clean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3225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034 — 7hr clean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62432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036 — 7hr clean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92608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038 — 7hr clean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22783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041 — 7hr clean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352958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043 — 7hr clean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" y="383133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EEG 044 — 7hr clean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4023360" cy="3108960"/>
          </a:xfrm>
          <a:prstGeom prst="rect">
            <a:avLst/>
          </a:prstGeom>
          <a:solidFill>
            <a:srgbClr val="2A1F0D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097280"/>
            <a:ext cx="4023360" cy="5029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1097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&amp; Dup15q  —  RAW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7190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(8 subjects)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3912633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4068015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4137123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4329285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858000" y="20848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4757853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3774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5141475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858000" y="26700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5360954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0" y="2962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 5409426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937760" y="331012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EF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Dup15q (11 subjects) — NKT format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363016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4546621 · 4574335 · 4646135 · 4672497 · 4745551 · 4939552 · 4959323 · 4969700 · 4981316 · 5158834 · 5426282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498848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Run MATLAB pipeline on Control &amp; Dup15q groups to enable cross-group comparison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FBAD8"/>
          </a:solidFill>
          <a:ln w="12700">
            <a:solidFill>
              <a:srgbClr val="3FBA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FB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resteeg-master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Analysis of Resting-State EEG for Clinicians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3474720" cy="3474720"/>
          </a:xfrm>
          <a:prstGeom prst="rect">
            <a:avLst/>
          </a:prstGeom>
          <a:solidFill>
            <a:srgbClr val="12243A"/>
          </a:solidFill>
          <a:ln w="12700">
            <a:solidFill>
              <a:srgbClr val="0D7C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3474720" cy="438912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920240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Single MATLAB function call processes raw EEG through the full pipeline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450592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Skips already-completed stages automatically (import / preproc)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2980944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All parameters are passed via a CONFIG struct — reproducible &amp; auditable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511296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Generates topomaps, TF spectrograms, and Excel power tables automatically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3200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Batch-processes multiple subjects in a loop from one config 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1371600"/>
            <a:ext cx="4754880" cy="3474720"/>
          </a:xfrm>
          <a:prstGeom prst="rect">
            <a:avLst/>
          </a:prstGeom>
          <a:solidFill>
            <a:srgbClr val="12243A"/>
          </a:solidFill>
          <a:ln w="12700">
            <a:solidFill>
              <a:srgbClr val="3FBA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114800" y="1371600"/>
            <a:ext cx="4754880" cy="438912"/>
          </a:xfrm>
          <a:prstGeom prst="rect">
            <a:avLst/>
          </a:prstGeom>
          <a:solidFill>
            <a:srgbClr val="3FBAD8"/>
          </a:solidFill>
          <a:ln w="12700">
            <a:solidFill>
              <a:srgbClr val="3FBAD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60520" y="13716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Structure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206240" y="1874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resteeg-master/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0624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0E6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resteeg.m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2331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← main function (entry)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06240" y="2560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tutorial_resteeg_vidya.m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06240" y="2788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← our config &amp; run script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3017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functions/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prep_import.m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3474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prep_proc.m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20624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gen_report_materials.m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06240" y="3931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export_feature.m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41605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export_excel.m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4389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A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chanlocs/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06240" y="46177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│     chanlocs_nihonkohden.mat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tutorial_resteeg_vidya.m  —  Entry Point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run the pipeline on new subjects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" y="1143000"/>
            <a:ext cx="1600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143000"/>
            <a:ext cx="1600200" cy="56692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1430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12648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Paths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1828800"/>
            <a:ext cx="1435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uigetdir() prompts for EEGLAB folder, resteeg folder.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chanlocs path → chanlocs_nihonkohden.mat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828800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965960" y="1143000"/>
            <a:ext cx="1600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65960" y="1143000"/>
            <a:ext cx="1600200" cy="566928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65960" y="11430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50008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Files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57400" y="1828800"/>
            <a:ext cx="1435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uigetfile() to pick one or more .set files.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multi-select for batch processing.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703320" y="1143000"/>
            <a:ext cx="1600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03320" y="1143000"/>
            <a:ext cx="1600200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03320" y="11430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087368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794760" y="1828800"/>
            <a:ext cx="1435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CONFIG struct: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filter: HP 1 Hz, LP 55 Hz  |  reref: average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ASR cutoff: 20  |  ICLabel threshold: 0.5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Time window: [1, 21591] sec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40680" y="1143000"/>
            <a:ext cx="1600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40680" y="1143000"/>
            <a:ext cx="1600200" cy="5669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40680" y="11430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824728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Loop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532120" y="1828800"/>
            <a:ext cx="1435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file → CONFIG.filename = 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= resteeg(CONFIG)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Failed files caught and logged.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040880" y="2331720"/>
            <a:ext cx="182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178040" y="1143000"/>
            <a:ext cx="1600200" cy="3520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A3D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78040" y="1143000"/>
            <a:ext cx="1600200" cy="566928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178040" y="1143000"/>
            <a:ext cx="411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CCCC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562088" y="1188720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 Excel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269480" y="1828800"/>
            <a:ext cx="1435608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uigetfile_n_dir selects report folders.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export_feature() → export_excel()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Outputs: Result_Baseline_Power.xlsx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8600" y="4681728"/>
            <a:ext cx="8686800" cy="347472"/>
          </a:xfrm>
          <a:prstGeom prst="rect">
            <a:avLst/>
          </a:prstGeom>
          <a:solidFill>
            <a:srgbClr val="1A1A2E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469087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8F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resteeg(CONFIG);   % called once per subject inside the for-loop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resteeg.m  —  Main Function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11480" y="713232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caching: each stage checks for existing output before re-running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078992"/>
            <a:ext cx="5120640" cy="713232"/>
          </a:xfrm>
          <a:prstGeom prst="rect">
            <a:avLst/>
          </a:prstGeom>
          <a:solidFill>
            <a:srgbClr val="F8FAFC"/>
          </a:solidFill>
          <a:ln w="25400">
            <a:solidFill>
              <a:srgbClr val="0D7C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078992"/>
            <a:ext cx="109728" cy="713232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15568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C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Import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920240" y="1124712"/>
            <a:ext cx="33375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965960" y="11247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prep_import(CONFIG)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EDF/BDF/SET → EEGLAB format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removal + location assign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window selection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468880" y="179222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865376"/>
            <a:ext cx="5120640" cy="713232"/>
          </a:xfrm>
          <a:prstGeom prst="rect">
            <a:avLst/>
          </a:prstGeom>
          <a:solidFill>
            <a:srgbClr val="F8FAFC"/>
          </a:solidFill>
          <a:ln w="25400">
            <a:solidFill>
              <a:srgbClr val="0A3D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8600" y="1865376"/>
            <a:ext cx="109728" cy="713232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19019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3D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Preprocessing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20240" y="1911096"/>
            <a:ext cx="33375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65960" y="19110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prep_proc(EEG, CONFIG)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221284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→ Bad ch. removal → Reref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 (60/120 Hz)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→ ICA + ICLabel rejection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257860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" y="2651760"/>
            <a:ext cx="5120640" cy="713232"/>
          </a:xfrm>
          <a:prstGeom prst="rect">
            <a:avLst/>
          </a:prstGeom>
          <a:solidFill>
            <a:srgbClr val="F8FAFC"/>
          </a:solidFill>
          <a:ln w="254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2651760"/>
            <a:ext cx="109728" cy="7132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688336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Power Analysis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920240" y="2697480"/>
            <a:ext cx="33375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965960" y="2697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power_analysis(EEG, CONFIG)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11480" y="2999232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via spectopo() → 5 bands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+ relative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Frontal alpha asymmetry (F3/F4, F7/F8)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36499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3438144"/>
            <a:ext cx="5120640" cy="713232"/>
          </a:xfrm>
          <a:prstGeom prst="rect">
            <a:avLst/>
          </a:prstGeom>
          <a:solidFill>
            <a:srgbClr val="F8FAFC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28600" y="3438144"/>
            <a:ext cx="109728" cy="7132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TF Analysis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1920240" y="3483864"/>
            <a:ext cx="33375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65960" y="34838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time_freq_analysis(EEG, CONFIG)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11480" y="3785616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Hann-windowed STFT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Spectrogram 1–50 Hz, log power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tfplot_{channel}.png per channel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468880" y="415137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▼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28600" y="4224528"/>
            <a:ext cx="5120640" cy="713232"/>
          </a:xfrm>
          <a:prstGeom prst="rect">
            <a:avLst/>
          </a:prstGeom>
          <a:solidFill>
            <a:srgbClr val="F8FAFC"/>
          </a:solidFill>
          <a:ln w="25400">
            <a:solidFill>
              <a:srgbClr val="1E8A5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28600" y="4224528"/>
            <a:ext cx="109728" cy="713232"/>
          </a:xfrm>
          <a:prstGeom prst="rect">
            <a:avLst/>
          </a:prstGeom>
          <a:solidFill>
            <a:srgbClr val="1E8A5E"/>
          </a:solidFill>
          <a:ln w="12700">
            <a:solidFill>
              <a:srgbClr val="1E8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11480" y="4261104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8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 Generate Report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1920240" y="4270248"/>
            <a:ext cx="3337560" cy="27432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965960" y="4270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gen_report_materials(EEG, CONFIG)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11480" y="4572000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CONFIG.mat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10× topomap PNGs (power + rpower)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gen_report()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623560" y="1078992"/>
            <a:ext cx="3291840" cy="301752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623560" y="1078992"/>
            <a:ext cx="3291840" cy="4389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69280" y="1078992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Skip / Cache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5715000" y="164592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779008" y="168249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*_import.set exists?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79008" y="190195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FORCE_RUN_IMPORT = 0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79008" y="209397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import, load from disk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715000" y="2423160"/>
            <a:ext cx="31089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779008" y="2459736"/>
            <a:ext cx="2971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30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*_prep.set exists?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779008" y="2679192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FORCE_RUN_PREPROC = 0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79008" y="2871216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Skip preprocessing, load from disk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23560" y="4206240"/>
            <a:ext cx="3291840" cy="777240"/>
          </a:xfrm>
          <a:prstGeom prst="rect">
            <a:avLst/>
          </a:prstGeom>
          <a:solidFill>
            <a:srgbClr val="E0E9F4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425196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SAVESET = 1  →  writes .set files after each stage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double_precision = 0  →  use float (faster)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A3D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EXPORT_REPORT = 0  →  skip PDF report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&amp; 2 Deep Dive  —  Import &amp; Preprocessing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06908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D7C99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069080" cy="47548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prep_import.m  —  Stage 1: Import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38862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444752"/>
            <a:ext cx="91440" cy="74980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81328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import_data()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719072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EDF/BDF via pop_biosig()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.set via pop_loadset()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nbchan, srate, xmax in rawinfo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48840" y="219456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C99"/>
                </a:solidFill>
              </a:rPr>
              <a:t>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295144"/>
            <a:ext cx="38862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95144"/>
            <a:ext cx="91440" cy="74980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2331720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remove_channel()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" y="2569464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user-specified non-EEG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via pop_select()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 EMG, ECG, DC channels)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148840" y="3044952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C99"/>
                </a:solidFill>
              </a:rPr>
              <a:t>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145536"/>
            <a:ext cx="38862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3145536"/>
            <a:ext cx="91440" cy="74980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182112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import_chanlocs()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5488" y="3419856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chanlocs_nihonkohden.mat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Assigns 3D electrode positions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Fallback: template lookup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148840" y="3895344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D7C99"/>
                </a:solidFill>
              </a:rPr>
              <a:t>▼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3995928"/>
            <a:ext cx="3886200" cy="749808"/>
          </a:xfrm>
          <a:prstGeom prst="rect">
            <a:avLst/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3995928"/>
            <a:ext cx="91440" cy="74980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4032504"/>
            <a:ext cx="3611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select_time()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4270248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Trims to CONFIG.time_window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[1, 21591] sec for our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(~6 hours overnight)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46320" y="868680"/>
            <a:ext cx="4069080" cy="4069080"/>
          </a:xfrm>
          <a:prstGeom prst="rect">
            <a:avLst/>
          </a:prstGeom>
          <a:solidFill>
            <a:srgbClr val="FFFFFF"/>
          </a:solidFill>
          <a:ln w="25400">
            <a:solidFill>
              <a:srgbClr val="0A3D5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868680"/>
            <a:ext cx="4069080" cy="475488"/>
          </a:xfrm>
          <a:prstGeom prst="rect">
            <a:avLst/>
          </a:prstGeom>
          <a:solidFill>
            <a:srgbClr val="0A3D52"/>
          </a:solidFill>
          <a:ln w="12700">
            <a:solidFill>
              <a:srgbClr val="0A3D5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92040" y="86868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prep_proc.m  —  Stage 2: Preprocessing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937760" y="1444752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1444752"/>
            <a:ext cx="91440" cy="4297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503920" y="1499616"/>
            <a:ext cx="347472" cy="2011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03920" y="149961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74920" y="147218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filter_data()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74920" y="164592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HP: 1 Hz FIR  |  LP: 55 Hz FIR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pop_eegfiltnew()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1938528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37760" y="1938528"/>
            <a:ext cx="91440" cy="4297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03920" y="1993392"/>
            <a:ext cx="347472" cy="2011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03920" y="199339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74920" y="1965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remove_badchan()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74920" y="213969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pop_rejchan (±3 SD spectral)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clean_flatlines + clean_channels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(flatline 5s, corr 0.6, noise 4 SD)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937760" y="2432304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937760" y="2432304"/>
            <a:ext cx="91440" cy="4297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503920" y="2487168"/>
            <a:ext cx="347472" cy="2011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03920" y="2487168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074920" y="245973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interp_badchan()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74920" y="2633472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interpolation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removed bad channels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pop_interp()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937760" y="2926080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37760" y="2926080"/>
            <a:ext cx="91440" cy="4297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503920" y="2980944"/>
            <a:ext cx="347472" cy="201168"/>
          </a:xfrm>
          <a:prstGeom prst="rect">
            <a:avLst/>
          </a:prstGeom>
          <a:solidFill>
            <a:srgbClr val="0D7C99"/>
          </a:solidFill>
          <a:ln w="12700">
            <a:solidFill>
              <a:srgbClr val="0D7C9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03920" y="2980944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5074920" y="295351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7C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reref_data()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74920" y="3127248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reference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pop_reref(EEG, [])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937760" y="3419856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3419856"/>
            <a:ext cx="91440" cy="429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503920" y="3474720"/>
            <a:ext cx="347472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8503920" y="3474720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74920" y="34472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remove_linenoise()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074920" y="3621024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CleanLine plugin: 60 + 120 Hz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pop_cleanline()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937760" y="3913632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937760" y="3913632"/>
            <a:ext cx="91440" cy="429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8503920" y="3968496"/>
            <a:ext cx="347472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503920" y="3968496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74920" y="3941064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asr_autoclean()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074920" y="4114800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 Subspace Reconstruction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stdcutoff = 20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clean_asr()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937760" y="4407408"/>
            <a:ext cx="3886200" cy="429768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937760" y="4407408"/>
            <a:ext cx="91440" cy="429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503920" y="4462272"/>
            <a:ext cx="347472" cy="2011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503920" y="4462272"/>
            <a:ext cx="347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Adv.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74920" y="44348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ica_autoclean()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5074920" y="4608576"/>
            <a:ext cx="3337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runica ICA → ICLabel classifier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Reject: Muscle/Eye/Heart/Line/Chan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= 0.5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64592"/>
            <a:ext cx="8503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3D5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3 Deep Dive  —  Power &amp; Time-Frequency Analysis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114800" cy="4023360"/>
          </a:xfrm>
          <a:prstGeom prst="rect">
            <a:avLst/>
          </a:prstGeom>
          <a:solidFill>
            <a:srgbClr val="F5F3FF"/>
          </a:solidFill>
          <a:ln w="25400">
            <a:solidFill>
              <a:srgbClr val="5B21B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68680"/>
            <a:ext cx="4114800" cy="47548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power_analysis()  —  resteeg.m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9319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4B00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44752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[spectra, freqs] = spectopo(EEG.data, 0, EEG.srate);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power_delta = mean(10.^(spectra(:, freqs&gt;=1 &amp; freqs&lt;4)/10), 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power_alpha = mean(10.^(spectra(:, freqs&gt;=8 &amp; freqs&lt;13)/10), 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sum([delta, theta, alpha, beta, gamma], 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rpower_delta = power_delta ./ total;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265176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8833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PSD method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288950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spectopo() — EEGLAB's FFT-based power spectral density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320040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23697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bands computed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43814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1–4  |  Theta 4–8  |  Alpha 8–13  |  Beta 13–30  |  Gamma 30–50 Hz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378561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power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398678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band / sum of all 5 bands (0–1 normalized)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" y="4297680"/>
            <a:ext cx="3931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334256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asymmetry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5354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(F3−F4)/(F3+F4)  and  (F7−F8)/(F7+F8) — frontal lateralization index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868680"/>
            <a:ext cx="4114800" cy="4023360"/>
          </a:xfrm>
          <a:prstGeom prst="rect">
            <a:avLst/>
          </a:prstGeom>
          <a:solidFill>
            <a:srgbClr val="F0FDF4"/>
          </a:solidFill>
          <a:ln w="25400">
            <a:solidFill>
              <a:srgbClr val="02809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868680"/>
            <a:ext cx="4114800" cy="4754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8686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time_freq_analysis()  —  resteeg.m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92040" y="1417320"/>
            <a:ext cx="3931920" cy="1143000"/>
          </a:xfrm>
          <a:prstGeom prst="rect">
            <a:avLst/>
          </a:prstGeom>
          <a:solidFill>
            <a:srgbClr val="1A1A2E"/>
          </a:solidFill>
          <a:ln w="12700">
            <a:solidFill>
              <a:srgbClr val="014D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56048" y="1444752"/>
            <a:ext cx="379476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 = hann(window_len * EEG.srate);  % 5-sec Hann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noverlap = floor(length(window) / 2);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nfft = max(256, 2.^ceil(log2(length(window))));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[s, f, t] = spectrogram(EEG.data(ch,:), window,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noverlap, nfft, EEG.srate);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F0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log_power = log(abs(s(freq_range,:)).^2);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92040" y="265176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6974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035040" y="269748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5-second Hann window (configurable via timefreq_window_len)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92040" y="3026664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3072384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035040" y="3072384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overlap (floor(window/2) samples)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92040" y="3401568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83480" y="3447288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Freq. range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035040" y="3447288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1–50 Hz displayed  |  NFFT = next power of 2 ≥ window length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892040" y="3776472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83480" y="3822192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scale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035040" y="3822192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power, clipped to [0.25th percentile, max]  |  jet colormap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892040" y="4151376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83480" y="4197096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035040" y="4197096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CONFIG.report.timefreq_plot_chan = {T3, T4, P3, P4} in our setup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892040" y="4526280"/>
            <a:ext cx="39319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83480" y="45720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35040" y="4572000"/>
            <a:ext cx="2724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tfplot_{channel}.png saved to report directory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Sleep EEG Research — Study Overview</dc:title>
  <dc:subject>PptxGenJS Presentation</dc:subject>
  <dc:creator>PptxGenJS</dc:creator>
  <cp:lastModifiedBy>PptxGenJS</cp:lastModifiedBy>
  <cp:revision>1</cp:revision>
  <dcterms:created xsi:type="dcterms:W3CDTF">2026-03-10T17:30:03Z</dcterms:created>
  <dcterms:modified xsi:type="dcterms:W3CDTF">2026-03-10T17:30:03Z</dcterms:modified>
</cp:coreProperties>
</file>